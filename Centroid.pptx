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9"/>
    <p:restoredTop sz="94703"/>
  </p:normalViewPr>
  <p:slideViewPr>
    <p:cSldViewPr snapToGrid="0">
      <p:cViewPr>
        <p:scale>
          <a:sx n="115" d="100"/>
          <a:sy n="115" d="100"/>
        </p:scale>
        <p:origin x="14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0:5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52 24575,'-11'5'0,"-2"-3"0,-3 0 0,-5-2 0,-1 0 0,-10 0 0,-5 0 0,3 0 0,1 0 0,6 0 0,1 0 0,-6 0 0,-1 0 0,-4 0 0,0 0 0,1 0 0,6-2 0,9-1 0,4-2 0,3-1 0,4-1 0,4-1 0,2 0 0,2 1 0,0-1 0,0 4 0,2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1:06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1 284 24575,'9'28'0,"-2"-11"0,8 10 0,-6-17 0,-1 1 0,1 0 0,-1-1 0,0 0 0,0-1 0,0-1 0,1 1 0,-3-1 0,0 0 0,-1 0 0,-1 0 0,0 0 0,-1-1 0,2-1 0,0-2 0,2-2 0,-1-2 0,1 0 0,-2-2 0,0-2 0,-1-2 0,-1-1 0,1 0 0,0-2 0,1 0 0,1-4 0,-1 0 0,1 0 0,1-2 0,0-4 0,3-3 0,-1-1 0,2-2 0,-1 2 0,0-1 0,-1 2 0,1 2 0,-1 3 0,0 1 0,0 3 0,-1 2 0,0 1 0,-1 3 0,0 0 0,-1 1 0,1-3 0,0-1 0,-1-1 0,1-2 0,-1 2 0,1 0 0,-1 0 0,0 3 0,0-1 0,0 1 0,0 1 0,-2 1 0,0 1 0,-1 0 0,-2 1 0,-1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1:1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 24575,'0'20'0,"0"-4"0,2 2 0,5 3 0,2 0 0,2 2 0,-3-2 0,-3-8 0,-1-1 0,-1-3 0,1-1 0,-1 1 0,0-1 0,-1 0 0,-1 0 0,1-1 0,2 1 0,-1-1 0,0-2 0,0 0 0,-1 0 0,2-1 0,-2 1 0,2-1 0,1-2 0,0 0 0,2-2 0,-2-1 0,0-4 0,1-4 0,0-5 0,1-1 0,2-3 0,0-1 0,2-1 0,2-2 0,1-1 0,3 0 0,-2 0 0,2 1 0,0 2 0,0 0 0,2 1 0,0-1 0,-2 4 0,-2 2 0,-1 1 0,-3 2 0,0 0 0,-2 2 0,1 1 0,-1 1 0,2-3 0,-1 0 0,1-1 0,2-2 0,0 2 0,1-1 0,0 1 0,-4 2 0,-1 2 0,-1 1 0,0 2 0,0 1 0,-2 0 0,0 0 0,-1 0 0,-1-2 0,0 3 0,-3-1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1:22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1 317 24575,'5'12'0,"1"-2"0,1 0 0,2-1 0,-1 0 0,1 0 0,-1 0 0,-2-2 0,0 2 0,-1-1 0,1 2 0,0 1 0,1 2 0,1 0 0,1-2 0,-3 0 0,0-3 0,0 0 0,-2 0 0,2 0 0,-2 0 0,0-2 0,0-1 0,-1-1 0,0 1 0,0 1 0,1 0 0,-1-1 0,3 1 0,0 0 0,1-1 0,0-3 0,-1-2 0,0 0 0,1 0 0,0-2 0,0-3 0,1-3 0,1-4 0,-1-3 0,1-2 0,3-1 0,2-1 0,2-1 0,3 1 0,1-3 0,2-2 0,5 0 0,4-3 0,2 1 0,-3 2 0,0-1 0,0 3 0,0-1 0,0-2 0,1 0 0,-3 2 0,-2 1 0,-2 0 0,-4 6 0,0 1 0,-1 3 0,-2 2 0,-3 1 0,-4 2 0,-1 1 0,-1 2 0,0 1 0,-1 1 0,1 1 0,-2-2 0,-3-3 0,-3 1 0,0 2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1:40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2:24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24575,'11'0'0,"1"0"0,3 0 0,-2 0 0,0 0 0,-3 0 0,-3 0 0,0 0 0,-1 0 0,1 0 0,-1 0 0,1 0 0,1 0 0,-2 0 0,1 0 0,-1 0 0,1 0 0,0 0 0,1 0 0,0 0 0,-4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2:26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24575,'8'0'0,"-1"0"0,0 0 0,0 0 0,1 0 0,0 0 0,0 0 0,0 0 0,0 0 0,0 0 0,0 0 0,0 0 0,0 0 0,0 2 0,0 0 0,0 0 0,-1 0 0,3-2 0,1 0 0,0 1 0,3 1 0,-2 0 0,2 2 0,0-1 0,-3 0 0,0 0 0,-2 0 0,-1-1 0,-3 0 0,-1-2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2:42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24575,'8'12'0,"-3"-2"0,4 1 0,-5-4 0,0 1 0,0 0 0,-1-1 0,2 0 0,-1 0 0,1-1 0,1 2 0,0 2 0,2 0 0,-2 1 0,1-1 0,-1 1 0,-1 0 0,1 0 0,-2-1 0,-1-1 0,0-3 0,0 0 0,-1 0 0,1 0 0,1 2 0,0-1 0,1 0 0,-2-1 0,0 1 0,1 0 0,-2 1 0,2-2 0,-1-2 0,2-2 0,1-3 0,1-2 0,0-2 0,0-2 0,1-1 0,0-2 0,0-1 0,1-2 0,2-1 0,2 0 0,4-2 0,2 1 0,0-1 0,-1 0 0,1-1 0,-3 0 0,2 1 0,1 1 0,1 0 0,1-2 0,1 2 0,1-2 0,-1 2 0,1 2 0,-3 0 0,0 3 0,-1 0 0,-2 2 0,-2 1 0,-4 2 0,-3 1 0,0 0 0,0 1 0,0 2 0,-4 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3:04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24575,'2'-4'0,"1"2"0,3 0 0,3 2 0,4 4 0,3 5 0,-1 2 0,0 1 0,-4-1 0,-2-2 0,1 1 0,-1-1 0,2 1 0,0-1 0,0-1 0,-3 0 0,1 0 0,-2 0 0,1 0 0,0 0 0,1 0 0,-1 0 0,0 3 0,1 2 0,2 3 0,7 7 0,7 4 0,8 6 0,1 3 0,-2-3 0,0 0 0,-2-3 0,-3-2 0,-5-4 0,-5-5 0,-4-3 0,-1-4 0,-5-3 0,-2-1 0,-3 0 0,-1-3 0,-1-2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3:05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1 442 24575,'1'-11'0,"6"-2"0,10-10 0,10-3 0,11-11 0,7-5 0,4 2 0,4-8 0,-1 3 0,-7 4 0,-6 5 0,-11 9 0,-7 7 0,-6 6 0,-5 5 0,-2 4 0,-3 3 0,-2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3:0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24575,'16'1'0,"-4"3"0,6 2 0,-7 0 0,2 2 0,-1 1 0,-1 0 0,0 0 0,-3-1 0,0 0 0,-1 0 0,0-1 0,0-1 0,2 1 0,0 0 0,3 3 0,3 3 0,1 2 0,4 3 0,2 2 0,-1-1 0,-1-1 0,-3-3 0,-1-2 0,-3-4 0,-2 0 0,-4-1 0,-3 0 0,0-2 0,-2-1 0,0-2 0,0-2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3:02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1 296 24575,'4'-4'0,"3"-3"0,4-4 0,1-4 0,4-2 0,1-3 0,0 1 0,-1 1 0,-2 4 0,-4 4 0,-1 2 0,-1 1 0,0 1 0,0 2 0,-1 0 0,1-2 0,0 0 0,-1-1 0,1-1 0,2-1 0,1 0 0,4-4 0,-1 0 0,0-1 0,0 0 0,-2 2 0,-1 1 0,-4 5 0,-3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3:14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0 317 24575,'7'8'0,"0"-2"0,3 4 0,-1-1 0,-1 1 0,0 0 0,0-2 0,-3-1 0,1-2 0,-1 1 0,1 0 0,0-1 0,-2-1 0,1 1 0,1 2 0,-1 1 0,0-2 0,-1 0 0,1 0 0,0 0 0,1 0 0,0-1 0,-1 0 0,-1-1 0,-3 1 0,2-2 0,-1 2 0,1-2 0,1 1 0,0-1 0,0 1 0,0-1 0,0 1 0,0-1 0,0-2 0,-2-3 0,0-3 0,-2-2 0,0 1 0,0-1 0,0 1 0,0-2 0,0 1 0,0 0 0,0 0 0,0-1 0,0 1 0,0 1 0,0-1 0,0 0 0,0 0 0,0 0 0,1 0 0,3-1 0,0 0 0,1 1 0,-1-2 0,0 1 0,0 0 0,-1 0 0,0 0 0,-1 0 0,2 0 0,0-2 0,0-1 0,1 1 0,0-1 0,2 2 0,1-3 0,0-1 0,0 2 0,3 0 0,-1 2 0,1 0 0,0 0 0,-3 1 0,1 0 0,-1 0 0,0 0 0,-1 1 0,2-1 0,1-1 0,2-1 0,-1 1 0,-1 3 0,-2 1 0,-1-1 0,-1 1 0,1 0 0,0 0 0,0-1 0,1-2 0,0 1 0,0-1 0,0 0 0,0 0 0,0 0 0,0 2 0,0 0 0,0-1 0,0 3 0,-1 0 0,-2 2 0,-5 2 0,-3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3:50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1 217 24575,'7'7'0,"-1"-1"0,6 8 0,-3-1 0,-1 0 0,0-1 0,-3-1 0,1 0 0,0 0 0,0 2 0,2-3 0,-1 1 0,-1-1 0,-3-1 0,1 0 0,-1 0 0,-1 0 0,1 0 0,0-1 0,0 0 0,1 0 0,0 0 0,-1 0 0,1-2 0,0 0 0,0 0 0,2 0 0,-2 2 0,1-3 0,0-1 0,-1-4 0,-1-4 0,0-2 0,1-6 0,3-1 0,1-3 0,0 2 0,-1 3 0,0-2 0,1-1 0,1-1 0,1-1 0,3 0 0,2-1 0,3-1 0,4-2 0,4-3 0,4-2 0,4-2 0,1-2 0,0 2 0,-1 0 0,1 1 0,-5 4 0,-4 4 0,-5 1 0,-5 5 0,-3 4 0,-4 2 0,-2 3 0,-3-1 0,-2 1 0,-5 1 0,1 1 0,-1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3:5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24575,'0'12'0,"0"-2"0,0 1 0,0-4 0,0 1 0,1-1 0,3 0 0,1 0 0,0 0 0,1 1 0,-2-1 0,0 0 0,0-1 0,0-1 0,0 1 0,-1 1 0,1 0 0,-2 0 0,1-2 0,-2 0 0,1-1 0,1 2 0,0 2 0,1-2 0,1-2 0,1-1 0,1-3 0,0 0 0,1 0 0,-1 0 0,1 0 0,-2-2 0,-1-1 0,-1-2 0,1-1 0,2-1 0,2-1 0,3-2 0,1-1 0,5-3 0,1-2 0,1 1 0,4-2 0,2-1 0,1 1 0,2 0 0,1 1 0,0 2 0,3-1 0,0-1 0,0 2 0,-1 0 0,1 1 0,-6 4 0,-2-1 0,-2 2 0,-5-1 0,1 2 0,-4 0 0,-3 2 0,-1 1 0,-2-1 0,0 1 0,-1 0 0,0 0 0,2-2 0,1 1 0,2-1 0,0-1 0,-2 2 0,0-1 0,-3 2 0,-1 0 0,1 0 0,-4 2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5T17:14:16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7 117 24575,'-3'11'0,"0"-4"0,3 8 0,0-5 0,0 0 0,2-2 0,0-3 0,0-1 0,0 1 0,-1 0 0,1 0 0,0 0 0,0 0 0,-1 1 0,1-2 0,0 1 0,1-1 0,-1 1 0,0 1 0,-1 0 0,1-1 0,0 0 0,0 0 0,2-1 0,-2 2 0,0-1 0,0 0 0,-2 2 0,1-2 0,2-2 0,2-1 0,2-2 0,-1-2 0,1 1 0,0-3 0,3-3 0,0-2 0,3-2 0,3 0 0,-2 2 0,2-1 0,0-1 0,-2 0 0,1-1 0,-1 3 0,-4 3 0,3 0 0,-3 0 0,-1-1 0,2-1 0,0 1 0,4-2 0,2 0 0,2 0 0,-1-1 0,2 0 0,-1 1 0,0 1 0,0 0 0,-2 3 0,-3 2 0,-3-1 0,-2 1 0,-1 1 0,0 0 0,-1 0 0,1 0 0,0 0 0,-1-1 0,-1 2 0,1-1 0,0-2 0,1 2 0,0-2 0,0 0 0,-1 1 0,1 0 0,0 0 0,-1 1 0,0-1 0,1 0 0,-2-1 0,0 1 0,-1 0 0,0 2 0,0-1 0,0 0 0,-3 0 0,-1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D2DD0-46A7-04DD-2C7A-20F1D9823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1D887-AEC2-031C-1227-30054B8EF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1FCCD-6E33-FF25-CAEF-F99199E4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A8EF-C5E5-B421-2C9B-989FB4E43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4770-A7BC-E14D-2ED2-BE6D3708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A65E-7A06-1BCE-9BBA-5DA55160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67D87-0C4C-7D9E-0797-5DB55E52D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9E58-9CAD-ED67-A26E-25F6036A2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E92F-451A-064B-73EF-56CA2C38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6DAE4-11CC-B125-A216-3F96C6DC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4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A86B6-17CE-0648-383F-AA200192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82746-3FDC-E6C2-2C72-D6296D8FA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5EE6B-C78C-2BC2-583F-2297F545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D816B-1B69-5A91-60CD-1D57BBC3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B1205-684C-087A-C4B3-2E736003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BCC3-896C-681B-FF14-42D257B4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A81A-CB6F-7C61-5F8E-59836233D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E672A-BADE-39B8-11A0-12E4E7A4D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AC6EA-85F9-026D-4130-7BF420B3F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F8D5-10FD-BF3C-F58F-5B0097AD9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C0F98-230A-4A71-9C86-64D640B2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8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927E-055F-5874-BD5A-66430E0F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63322-937D-C1A8-B021-BE5EDE079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3BA2C-97C3-AAE6-3BD0-E4586875E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A8222-28DD-6D8F-2DC4-4F281E5BA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09431-7C6F-3545-3B10-3BCF91D43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EBF5E-432B-6864-0514-F6B55214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C22AB-4048-4772-8A2B-EF46EA70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EFB92-CDA8-A278-20C2-5BC74956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3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B4AF-F024-430B-C661-711C6D38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96A92-73B8-60AE-80FB-32561B37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2C2A0-1925-38F2-667E-C8FD2FC5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F81E4-0521-4ACB-21EA-98BEC764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2A54E-D386-FCF9-F037-3AA3A07E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71546-0E6A-5B73-8B48-E3CBA33D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752DB-CA50-F734-1467-67D934AE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9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1CC7-9B9D-7356-984A-458B24F4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C4A29-86AF-A8AD-ACC3-FA211EBBB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5D811-AE9E-B036-1569-E4FC0CBF6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78BB4-E920-49A5-8193-B08991BA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66F11-9BA8-8EF3-61C9-A9031D81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13C87-7BC1-E112-DED5-7CAD5CF6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5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18B9-5B4A-5162-157A-01FD5D52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E6064-9817-EE80-F937-AFE7B4DF8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6A529-1208-C4CB-E41E-9637C5A4C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90B10-38B0-A46C-3231-3C4EA1AC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4EF06-D475-DA6C-C4E6-A61C3935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51E4E-8DE3-F476-B434-D868C31F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0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4E1F-FAF3-78C0-17DE-55115F3E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7FB22-BAA7-E420-2723-C32E2D7B0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30C7C-7256-0A70-3A19-1E4266EC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697A4-93E1-2CC2-F003-16440591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58372-3B3F-10EA-1201-A9E1E088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97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ACF9F4-5305-CCF6-FBF2-58B50FA17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70259-0754-07F4-414B-24EA8284B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D312D-EC23-BBE2-0239-ADD1A460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6684B-01A1-1AA1-B6B6-5D947E8F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33199-7340-80CA-CE32-288125C9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68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0C0BA-6BA0-BA24-2D89-400E4055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1CAFF-EB35-177C-0ED2-320687DF2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75C93-FE57-F8C5-6B84-D4A06370D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CECBE-B364-4541-9F72-8C760A19B819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E6CA3-E983-C84E-AABF-60619CEB8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3BB4F-8FF7-3A07-3331-88E64EBCC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A630C-73E8-214D-895C-1A352D50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34" Type="http://schemas.openxmlformats.org/officeDocument/2006/relationships/customXml" Target="../ink/ink16.xml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8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FD9C-1633-E9D1-B0B5-EB943722F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829" y="1029267"/>
            <a:ext cx="10243457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Problem: Why Static and Dynamic Thresholds Fail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D4AE4-7223-AD3A-8F7A-221879A0D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9" y="1872343"/>
            <a:ext cx="10080171" cy="450668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endParaRPr lang="en-US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Traditional anomaly detection relies 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dirty="0"/>
              <a:t>Static Thresholds</a:t>
            </a:r>
            <a:r>
              <a:rPr lang="en-US" dirty="0"/>
              <a:t> (e.g., mean + 3·</a:t>
            </a:r>
            <a:r>
              <a:rPr lang="el-GR" dirty="0"/>
              <a:t>σ)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dirty="0"/>
              <a:t>Dynamic Thresholds</a:t>
            </a:r>
            <a:r>
              <a:rPr lang="en-US" dirty="0"/>
              <a:t> (adaptive quantile + smoothing)</a:t>
            </a:r>
          </a:p>
          <a:p>
            <a:pPr algn="l">
              <a:buNone/>
            </a:pPr>
            <a:r>
              <a:rPr lang="en-US" b="1" dirty="0"/>
              <a:t>Key Issue: High False Negatives (FNR)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Attack RMSEs often blend into the benign distribution tail.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Static threshold</a:t>
            </a:r>
            <a:r>
              <a:rPr lang="en-US" dirty="0"/>
              <a:t> can </a:t>
            </a:r>
            <a:r>
              <a:rPr lang="en-US" b="1" dirty="0"/>
              <a:t>miss subtle or stealthy attacks</a:t>
            </a:r>
            <a:r>
              <a:rPr lang="en-US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Fixed boundaries fail to adjust to context.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Dynamic threshold</a:t>
            </a:r>
            <a:r>
              <a:rPr lang="en-US" dirty="0"/>
              <a:t> smooths too aggressively: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Lagging adaptation → </a:t>
            </a:r>
            <a:r>
              <a:rPr lang="en-US" b="1" dirty="0"/>
              <a:t>slow reaction</a:t>
            </a:r>
            <a:r>
              <a:rPr lang="en-US" dirty="0"/>
              <a:t> to fast anomalies.</a:t>
            </a:r>
          </a:p>
        </p:txBody>
      </p:sp>
    </p:spTree>
    <p:extLst>
      <p:ext uri="{BB962C8B-B14F-4D97-AF65-F5344CB8AC3E}">
        <p14:creationId xmlns:p14="http://schemas.microsoft.com/office/powerpoint/2010/main" val="109768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DC8A-F80E-0C2E-3566-ED5C492B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6E14-25D5-F998-5478-39C91B6EB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37457" y="241867"/>
            <a:ext cx="6433457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23226-35E9-F67E-A4F0-3B1757988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26343"/>
            <a:ext cx="9775371" cy="4201886"/>
          </a:xfrm>
        </p:spPr>
        <p:txBody>
          <a:bodyPr>
            <a:normAutofit/>
          </a:bodyPr>
          <a:lstStyle/>
          <a:p>
            <a:r>
              <a:rPr lang="en-US" i="1" dirty="0"/>
              <a:t>Intuition Behind Distance-Based Unknown Pattern Detection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We extract </a:t>
            </a:r>
            <a:r>
              <a:rPr lang="en-US" b="1" dirty="0"/>
              <a:t>rolling shape vectors</a:t>
            </a:r>
            <a:r>
              <a:rPr lang="en-US" dirty="0"/>
              <a:t> from RMSE time series using a sliding window.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During training, we learn the </a:t>
            </a:r>
            <a:r>
              <a:rPr lang="en-US" b="1" dirty="0"/>
              <a:t>centroid</a:t>
            </a:r>
            <a:r>
              <a:rPr lang="en-US" dirty="0"/>
              <a:t> of these vectors to represent "benign behavior."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At test time, we check if the current vector lies </a:t>
            </a:r>
            <a:r>
              <a:rPr lang="en-US" b="1" dirty="0"/>
              <a:t>within a tolerance radius</a:t>
            </a:r>
            <a:r>
              <a:rPr lang="en-US" dirty="0"/>
              <a:t> from the centroid.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This gives a </a:t>
            </a:r>
            <a:r>
              <a:rPr lang="en-US" b="1" dirty="0"/>
              <a:t>model-agnostic anomaly detector</a:t>
            </a:r>
            <a:r>
              <a:rPr lang="en-US" dirty="0"/>
              <a:t>: deviations from known behavior are flagged as suspicious.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62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D339A-A9A1-DFF9-E7D7-C04722B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CD2E4D-F69C-F28E-4F77-E4266F92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846" y="0"/>
            <a:ext cx="7094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9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5A07D-AF75-A51F-DD97-A86AED392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5F30-0437-2258-232C-48745B8C0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1067"/>
            <a:ext cx="10243457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7C708-2701-3844-D2BC-620816F10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9" y="1872343"/>
            <a:ext cx="10080171" cy="450668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Results comparing dynamic static and our unknown pattern using centroid on Mirai Botnet:</a:t>
            </a:r>
          </a:p>
          <a:p>
            <a:pPr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2670B-6C61-2277-3C6A-0A19BB8EE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916765"/>
            <a:ext cx="8757877" cy="375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2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CB42-C8C4-8DFE-60C4-5FE8F645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870F-25F3-A6EE-EEDD-E5FA7E4E7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1067"/>
            <a:ext cx="10243457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D5C73-350C-199D-5521-9C892BE93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9" y="1872343"/>
            <a:ext cx="10080171" cy="450668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1. </a:t>
            </a:r>
            <a:r>
              <a:rPr lang="en-US" b="1" dirty="0" err="1"/>
              <a:t>Unkown</a:t>
            </a:r>
            <a:r>
              <a:rPr lang="en-US" b="1" dirty="0"/>
              <a:t> vs </a:t>
            </a:r>
            <a:r>
              <a:rPr lang="en-US" b="1" dirty="0" err="1"/>
              <a:t>unkown</a:t>
            </a:r>
            <a:r>
              <a:rPr lang="en-US" b="1" dirty="0"/>
              <a:t> or static we found </a:t>
            </a:r>
            <a:r>
              <a:rPr lang="en-US" b="1" dirty="0" err="1"/>
              <a:t>unkonwon</a:t>
            </a:r>
            <a:r>
              <a:rPr lang="en-US" b="1" dirty="0"/>
              <a:t> performs at par with </a:t>
            </a:r>
            <a:r>
              <a:rPr lang="en-US" b="1" dirty="0" err="1"/>
              <a:t>unknwon</a:t>
            </a:r>
            <a:r>
              <a:rPr lang="en-US" b="1" dirty="0"/>
              <a:t> or static so we keep </a:t>
            </a:r>
            <a:r>
              <a:rPr lang="en-US" b="1" dirty="0" err="1"/>
              <a:t>unkwon</a:t>
            </a:r>
            <a:r>
              <a:rPr lang="en-US" b="1" dirty="0"/>
              <a:t> in our experiments only</a:t>
            </a:r>
          </a:p>
        </p:txBody>
      </p:sp>
    </p:spTree>
    <p:extLst>
      <p:ext uri="{BB962C8B-B14F-4D97-AF65-F5344CB8AC3E}">
        <p14:creationId xmlns:p14="http://schemas.microsoft.com/office/powerpoint/2010/main" val="61211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C220-DDA6-D4BC-F516-A109B907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D701-BA81-85BE-837C-356BBE97A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7971" y="381000"/>
            <a:ext cx="6433457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Centroid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4A5CB1-D5BE-0617-73E3-CB54AAA07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1356191"/>
            <a:ext cx="5943600" cy="2708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AE387A-1CE7-9C76-EA90-13B781BB5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50" y="889573"/>
            <a:ext cx="4508500" cy="5054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7B45360-BE19-F0AA-C4E1-7B03C4E24817}"/>
                  </a:ext>
                </a:extLst>
              </p14:cNvPr>
              <p14:cNvContentPartPr/>
              <p14:nvPr/>
            </p14:nvContentPartPr>
            <p14:xfrm>
              <a:off x="960680" y="1056440"/>
              <a:ext cx="200160" cy="21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7B45360-BE19-F0AA-C4E1-7B03C4E248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4560" y="1050320"/>
                <a:ext cx="2124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31F87D6-8EA8-1E03-FE4A-02A0CF211E5A}"/>
                  </a:ext>
                </a:extLst>
              </p14:cNvPr>
              <p14:cNvContentPartPr/>
              <p14:nvPr/>
            </p14:nvContentPartPr>
            <p14:xfrm>
              <a:off x="1322480" y="1969760"/>
              <a:ext cx="155520" cy="177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31F87D6-8EA8-1E03-FE4A-02A0CF211E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6360" y="1963640"/>
                <a:ext cx="1677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E1870D-03C3-7F79-2547-08232329E5EB}"/>
                  </a:ext>
                </a:extLst>
              </p14:cNvPr>
              <p14:cNvContentPartPr/>
              <p14:nvPr/>
            </p14:nvContentPartPr>
            <p14:xfrm>
              <a:off x="1298720" y="2209880"/>
              <a:ext cx="203040" cy="183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0E1870D-03C3-7F79-2547-08232329E5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2600" y="2203760"/>
                <a:ext cx="2152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D85B30-B490-D5A0-212F-6D2589E0BC02}"/>
                  </a:ext>
                </a:extLst>
              </p14:cNvPr>
              <p14:cNvContentPartPr/>
              <p14:nvPr/>
            </p14:nvContentPartPr>
            <p14:xfrm>
              <a:off x="1386560" y="2456480"/>
              <a:ext cx="308880" cy="206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D85B30-B490-D5A0-212F-6D2589E0BC0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80440" y="2450360"/>
                <a:ext cx="3211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BEAAC0-4F7F-F208-9C62-5957F675B051}"/>
                  </a:ext>
                </a:extLst>
              </p14:cNvPr>
              <p14:cNvContentPartPr/>
              <p14:nvPr/>
            </p14:nvContentPartPr>
            <p14:xfrm>
              <a:off x="1561520" y="269732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BEAAC0-4F7F-F208-9C62-5957F675B05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55400" y="26912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AFE476C-E007-6FAE-E14F-921E29807AC2}"/>
                  </a:ext>
                </a:extLst>
              </p14:cNvPr>
              <p14:cNvContentPartPr/>
              <p14:nvPr/>
            </p14:nvContentPartPr>
            <p14:xfrm>
              <a:off x="1284320" y="2959400"/>
              <a:ext cx="6480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AFE476C-E007-6FAE-E14F-921E29807A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78200" y="2953280"/>
                <a:ext cx="77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FDE5C1-3CB2-7385-9517-55A02692D5EE}"/>
                  </a:ext>
                </a:extLst>
              </p14:cNvPr>
              <p14:cNvContentPartPr/>
              <p14:nvPr/>
            </p14:nvContentPartPr>
            <p14:xfrm>
              <a:off x="1286120" y="3040760"/>
              <a:ext cx="95760" cy="12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FDE5C1-3CB2-7385-9517-55A02692D5E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80000" y="3034640"/>
                <a:ext cx="108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325BFAF-2803-583A-F442-885D500BA852}"/>
                  </a:ext>
                </a:extLst>
              </p14:cNvPr>
              <p14:cNvContentPartPr/>
              <p14:nvPr/>
            </p14:nvContentPartPr>
            <p14:xfrm>
              <a:off x="1208360" y="3185120"/>
              <a:ext cx="237240" cy="134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325BFAF-2803-583A-F442-885D500BA85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02240" y="3179000"/>
                <a:ext cx="249480" cy="14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D48AABC-2E6F-8EA4-B725-54C58DAEACEA}"/>
              </a:ext>
            </a:extLst>
          </p:cNvPr>
          <p:cNvGrpSpPr/>
          <p:nvPr/>
        </p:nvGrpSpPr>
        <p:grpSpPr>
          <a:xfrm>
            <a:off x="1562600" y="2666360"/>
            <a:ext cx="199800" cy="196560"/>
            <a:chOff x="1562600" y="2666360"/>
            <a:chExt cx="19980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6D1F6B8-55C5-8C9C-FD58-A0BD74F9711D}"/>
                    </a:ext>
                  </a:extLst>
                </p14:cNvPr>
                <p14:cNvContentPartPr/>
                <p14:nvPr/>
              </p14:nvContentPartPr>
              <p14:xfrm>
                <a:off x="1562600" y="2666360"/>
                <a:ext cx="196560" cy="19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6D1F6B8-55C5-8C9C-FD58-A0BD74F971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56480" y="2660240"/>
                  <a:ext cx="208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EBF2D46-AAF7-73EA-D239-8E0F88F97F0A}"/>
                    </a:ext>
                  </a:extLst>
                </p14:cNvPr>
                <p14:cNvContentPartPr/>
                <p14:nvPr/>
              </p14:nvContentPartPr>
              <p14:xfrm>
                <a:off x="1595000" y="2690840"/>
                <a:ext cx="167400" cy="15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EBF2D46-AAF7-73EA-D239-8E0F88F97F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88880" y="2684720"/>
                  <a:ext cx="1796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860F8F2-5903-365C-8F4B-01CD4A83F0F5}"/>
              </a:ext>
            </a:extLst>
          </p:cNvPr>
          <p:cNvGrpSpPr/>
          <p:nvPr/>
        </p:nvGrpSpPr>
        <p:grpSpPr>
          <a:xfrm>
            <a:off x="1202960" y="3432440"/>
            <a:ext cx="218880" cy="338760"/>
            <a:chOff x="1202960" y="3432440"/>
            <a:chExt cx="21888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C4ACD3-13C1-406F-35D1-D816DA60A142}"/>
                    </a:ext>
                  </a:extLst>
                </p14:cNvPr>
                <p14:cNvContentPartPr/>
                <p14:nvPr/>
              </p14:nvContentPartPr>
              <p14:xfrm>
                <a:off x="1203320" y="3432440"/>
                <a:ext cx="131040" cy="105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C4ACD3-13C1-406F-35D1-D816DA60A1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97200" y="3426320"/>
                  <a:ext cx="143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0D74A3-EA3F-50C7-87A9-4D5FA56F8720}"/>
                    </a:ext>
                  </a:extLst>
                </p14:cNvPr>
                <p14:cNvContentPartPr/>
                <p14:nvPr/>
              </p14:nvContentPartPr>
              <p14:xfrm>
                <a:off x="1202960" y="3455840"/>
                <a:ext cx="110880" cy="106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0D74A3-EA3F-50C7-87A9-4D5FA56F87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96840" y="3449720"/>
                  <a:ext cx="123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E3322C-DF99-73A4-F1C6-FA370CEA43BD}"/>
                    </a:ext>
                  </a:extLst>
                </p14:cNvPr>
                <p14:cNvContentPartPr/>
                <p14:nvPr/>
              </p14:nvContentPartPr>
              <p14:xfrm>
                <a:off x="1226360" y="3586520"/>
                <a:ext cx="195480" cy="184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E3322C-DF99-73A4-F1C6-FA370CEA43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20240" y="3580400"/>
                  <a:ext cx="20772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B067238-9956-2D2C-F20A-246775A0DC38}"/>
                  </a:ext>
                </a:extLst>
              </p14:cNvPr>
              <p14:cNvContentPartPr/>
              <p14:nvPr/>
            </p14:nvContentPartPr>
            <p14:xfrm>
              <a:off x="1232480" y="3840320"/>
              <a:ext cx="238320" cy="1749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B067238-9956-2D2C-F20A-246775A0DC3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26360" y="3834200"/>
                <a:ext cx="2505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F78FDB3-C792-1B16-1970-955CDB527C1C}"/>
                  </a:ext>
                </a:extLst>
              </p14:cNvPr>
              <p14:cNvContentPartPr/>
              <p14:nvPr/>
            </p14:nvContentPartPr>
            <p14:xfrm>
              <a:off x="6568760" y="3316880"/>
              <a:ext cx="304920" cy="1425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F78FDB3-C792-1B16-1970-955CDB527C1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62640" y="3310760"/>
                <a:ext cx="31716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D1C240B-7ADD-086D-D0D9-5E8DEC30660F}"/>
                  </a:ext>
                </a:extLst>
              </p14:cNvPr>
              <p14:cNvContentPartPr/>
              <p14:nvPr/>
            </p14:nvContentPartPr>
            <p14:xfrm>
              <a:off x="6632120" y="4997000"/>
              <a:ext cx="234360" cy="1080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D1C240B-7ADD-086D-D0D9-5E8DEC30660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26000" y="4990880"/>
                <a:ext cx="246600" cy="12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4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9CD3-4372-A7A7-7820-DC193FBE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38C8-81F3-7D54-3551-80D36FF9F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7971" y="381000"/>
            <a:ext cx="9430230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Centroid Results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3AA27-EC5C-0F12-D65F-32E18278CC47}"/>
              </a:ext>
            </a:extLst>
          </p:cNvPr>
          <p:cNvSpPr txBox="1"/>
          <p:nvPr/>
        </p:nvSpPr>
        <p:spPr>
          <a:xfrm>
            <a:off x="705544" y="956808"/>
            <a:ext cx="7823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⚠️ Edge Cases to Improve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SSL_Renegotiation</a:t>
            </a:r>
            <a:r>
              <a:rPr lang="en-US" b="1" dirty="0"/>
              <a:t> and </a:t>
            </a:r>
            <a:r>
              <a:rPr lang="en-US" b="1" dirty="0" err="1"/>
              <a:t>OS_Scan</a:t>
            </a:r>
            <a:r>
              <a:rPr lang="en-US" dirty="0"/>
              <a:t>: Outliers inflate max distance → loose boundary → high FPR</a:t>
            </a:r>
          </a:p>
          <a:p>
            <a:pPr>
              <a:buNone/>
            </a:pPr>
            <a:r>
              <a:rPr lang="en-US" b="1" dirty="0"/>
              <a:t>🔍 Empirical 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attacks like </a:t>
            </a:r>
            <a:r>
              <a:rPr lang="en-US" b="1" dirty="0" err="1"/>
              <a:t>SSL_Renegotiation</a:t>
            </a:r>
            <a:r>
              <a:rPr lang="en-US" dirty="0"/>
              <a:t>, </a:t>
            </a:r>
            <a:r>
              <a:rPr lang="en-US" b="1" dirty="0" err="1"/>
              <a:t>OS_Scan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RMSEs do rise, but not enough to </a:t>
            </a:r>
            <a:r>
              <a:rPr lang="en-US" b="1" dirty="0"/>
              <a:t>cross threshold</a:t>
            </a:r>
            <a:endParaRPr lang="en-US" dirty="0"/>
          </a:p>
          <a:p>
            <a:pPr>
              <a:buNone/>
            </a:pPr>
            <a:r>
              <a:rPr lang="en-US" dirty="0"/>
              <a:t>→ e.g., 95th percentile distance for tighter boundary</a:t>
            </a:r>
          </a:p>
          <a:p>
            <a:pPr>
              <a:buNone/>
            </a:pPr>
            <a:r>
              <a:rPr lang="en-US" b="1" dirty="0"/>
              <a:t>1. Centroid Tolerance Too Loose (</a:t>
            </a:r>
            <a:r>
              <a:rPr lang="en-US" b="1" dirty="0" err="1"/>
              <a:t>SSL_Renegotiation</a:t>
            </a:r>
            <a:r>
              <a:rPr lang="en-US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or few </a:t>
            </a:r>
            <a:r>
              <a:rPr lang="en-US" b="1" dirty="0"/>
              <a:t>outlier vectors</a:t>
            </a:r>
            <a:r>
              <a:rPr lang="en-US" dirty="0"/>
              <a:t> during training skew the </a:t>
            </a:r>
            <a:r>
              <a:rPr lang="en-US" b="1" dirty="0"/>
              <a:t>max distance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inflates the decision boundary, </a:t>
            </a:r>
            <a:r>
              <a:rPr lang="en-US" b="1" dirty="0"/>
              <a:t>classifying attacks as benign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PCA plot shows: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Tight benign cluster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Attack vectors clearly outside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 </a:t>
            </a:r>
            <a:r>
              <a:rPr lang="en-US" b="1" dirty="0"/>
              <a:t>tolerance circle is too large</a:t>
            </a:r>
            <a:endParaRPr lang="en-US" dirty="0"/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Fix</a:t>
            </a:r>
            <a:r>
              <a:rPr lang="en-US" dirty="0"/>
              <a:t>: Use quantile (e.g., 95th percentile) for tolerance, not max.</a:t>
            </a:r>
          </a:p>
        </p:txBody>
      </p:sp>
    </p:spTree>
    <p:extLst>
      <p:ext uri="{BB962C8B-B14F-4D97-AF65-F5344CB8AC3E}">
        <p14:creationId xmlns:p14="http://schemas.microsoft.com/office/powerpoint/2010/main" val="47130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296C-823E-48D8-8E94-D09C8F5E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EE5E-2CF0-FD03-4CCF-A1F0B6D1E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8588" y="1072595"/>
            <a:ext cx="9430230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Centroid Results Root Cause: SSL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A6944-6819-132E-16BF-0ACCD816A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" y="1648403"/>
            <a:ext cx="5943600" cy="4523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57839D-8B20-5A72-3E46-FB9048472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754" y="3092823"/>
            <a:ext cx="3907776" cy="3761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767669-1F31-D1B0-F8DE-25D5E5D10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7118" y="0"/>
            <a:ext cx="2752165" cy="2575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8FC4CF-C8F5-A3A6-FBFB-41F8BE516C1B}"/>
              </a:ext>
            </a:extLst>
          </p:cNvPr>
          <p:cNvSpPr txBox="1"/>
          <p:nvPr/>
        </p:nvSpPr>
        <p:spPr>
          <a:xfrm>
            <a:off x="8780929" y="2649470"/>
            <a:ext cx="2088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Quantile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9BE08-F37C-D600-2814-70538509DE75}"/>
              </a:ext>
            </a:extLst>
          </p:cNvPr>
          <p:cNvSpPr txBox="1"/>
          <p:nvPr/>
        </p:nvSpPr>
        <p:spPr>
          <a:xfrm>
            <a:off x="5988423" y="6292334"/>
            <a:ext cx="2088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Quantile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49A9D-9BC2-A7B8-6CDF-50478EBB03BF}"/>
              </a:ext>
            </a:extLst>
          </p:cNvPr>
          <p:cNvSpPr txBox="1"/>
          <p:nvPr/>
        </p:nvSpPr>
        <p:spPr>
          <a:xfrm>
            <a:off x="1555376" y="6422239"/>
            <a:ext cx="2088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Quantile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D45B0-875A-33F8-33D9-A278C6599510}"/>
              </a:ext>
            </a:extLst>
          </p:cNvPr>
          <p:cNvSpPr txBox="1"/>
          <p:nvPr/>
        </p:nvSpPr>
        <p:spPr>
          <a:xfrm>
            <a:off x="6140823" y="6444734"/>
            <a:ext cx="2088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Quantile</a:t>
            </a:r>
          </a:p>
        </p:txBody>
      </p:sp>
    </p:spTree>
    <p:extLst>
      <p:ext uri="{BB962C8B-B14F-4D97-AF65-F5344CB8AC3E}">
        <p14:creationId xmlns:p14="http://schemas.microsoft.com/office/powerpoint/2010/main" val="40584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23C2D-8756-57B7-BC48-01A15A08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B252-287D-5201-E3A0-70A9DFCA4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5608" y="183753"/>
            <a:ext cx="10784941" cy="575808"/>
          </a:xfrm>
        </p:spPr>
        <p:txBody>
          <a:bodyPr>
            <a:normAutofit fontScale="90000"/>
          </a:bodyPr>
          <a:lstStyle/>
          <a:p>
            <a:r>
              <a:rPr lang="en-US" dirty="0"/>
              <a:t>Centroid Results Root Cause: SSL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F6E3F-FDBE-BEB5-11D4-63092D65E8B8}"/>
              </a:ext>
            </a:extLst>
          </p:cNvPr>
          <p:cNvSpPr txBox="1"/>
          <p:nvPr/>
        </p:nvSpPr>
        <p:spPr>
          <a:xfrm>
            <a:off x="174811" y="751344"/>
            <a:ext cx="96441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The Problem with Max Distance</a:t>
            </a:r>
            <a:br>
              <a:rPr lang="en-US" dirty="0"/>
            </a:br>
            <a:r>
              <a:rPr lang="en-US" dirty="0"/>
              <a:t>tolerance = </a:t>
            </a:r>
            <a:r>
              <a:rPr lang="en-US" dirty="0" err="1"/>
              <a:t>max_distance_from_centroid</a:t>
            </a:r>
            <a:r>
              <a:rPr lang="en-US" dirty="0"/>
              <a:t> × </a:t>
            </a:r>
            <a:r>
              <a:rPr lang="en-US" dirty="0" err="1"/>
              <a:t>tol_factor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Issue:</a:t>
            </a:r>
            <a:r>
              <a:rPr lang="en-US" dirty="0"/>
              <a:t> One </a:t>
            </a:r>
            <a:r>
              <a:rPr lang="en-US" b="1" dirty="0"/>
              <a:t>noisy spike</a:t>
            </a:r>
            <a:r>
              <a:rPr lang="en-US" dirty="0"/>
              <a:t> during training inflates the </a:t>
            </a:r>
            <a:r>
              <a:rPr lang="en-US" dirty="0" err="1"/>
              <a:t>max_distance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results in an </a:t>
            </a:r>
            <a:r>
              <a:rPr lang="en-US" b="1" dirty="0"/>
              <a:t>overly large boundary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Almost </a:t>
            </a:r>
            <a:r>
              <a:rPr lang="en-US" b="1" dirty="0"/>
              <a:t>every test vector</a:t>
            </a:r>
            <a:r>
              <a:rPr lang="en-US" dirty="0"/>
              <a:t> is considered "benign", leading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False negatives (missed attacks)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Zero true positives (TPR = 0)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High False Positive Rate</a:t>
            </a:r>
            <a:r>
              <a:rPr lang="en-US" dirty="0"/>
              <a:t> if patterns drift due to attack vectors.</a:t>
            </a:r>
          </a:p>
          <a:p>
            <a:pPr>
              <a:buNone/>
            </a:pPr>
            <a:r>
              <a:rPr lang="en-US" b="1" dirty="0"/>
              <a:t>💡 Real Example - </a:t>
            </a:r>
            <a:r>
              <a:rPr lang="en-US" b="1" dirty="0" err="1"/>
              <a:t>OS_Scan</a:t>
            </a:r>
            <a:r>
              <a:rPr lang="en-US" b="1" dirty="0"/>
              <a:t> &amp; </a:t>
            </a:r>
            <a:r>
              <a:rPr lang="en-US" b="1" dirty="0" err="1"/>
              <a:t>SSL_Renegotiation</a:t>
            </a:r>
            <a:endParaRPr lang="en-US" b="1" dirty="0"/>
          </a:p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</a:t>
            </a:r>
            <a:r>
              <a:rPr lang="en-US" i="1" dirty="0"/>
              <a:t>Example: Where Max Distance Fails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Scenario:</a:t>
            </a:r>
            <a:r>
              <a:rPr lang="en-US" dirty="0"/>
              <a:t> One training vector (due to jitter, delayed packet burst, or device anomaly) lies very far from others.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 distance now shifts from ~0.2 → 1.9+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test vectors—even highly anomalous ones—are considered </a:t>
            </a:r>
            <a:r>
              <a:rPr lang="en-US" b="1" dirty="0"/>
              <a:t>"normal"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Observed Result: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TPR = 0.0,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F1 = 0.0,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Zero attack detection.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PCA plots clearly show attack vectors are far from benign cluster but inside inflated boundary.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1EC24-FE75-8263-6837-243C7F92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318" y="751344"/>
            <a:ext cx="4992633" cy="26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7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4306-7B4C-F2B6-EC4D-7AD02DFF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6A904-8E65-75CD-A3DD-BFA60186D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80088" y="0"/>
            <a:ext cx="10784941" cy="575808"/>
          </a:xfrm>
        </p:spPr>
        <p:txBody>
          <a:bodyPr>
            <a:noAutofit/>
          </a:bodyPr>
          <a:lstStyle/>
          <a:p>
            <a:r>
              <a:rPr lang="en-US" sz="2000" dirty="0"/>
              <a:t>Centroid Results Root C</a:t>
            </a:r>
            <a:br>
              <a:rPr lang="en-US" sz="2000" dirty="0"/>
            </a:br>
            <a:r>
              <a:rPr lang="en-US" sz="2000" dirty="0" err="1"/>
              <a:t>ause</a:t>
            </a:r>
            <a:r>
              <a:rPr lang="en-US" sz="2000" dirty="0"/>
              <a:t>: SSL Max </a:t>
            </a:r>
            <a:r>
              <a:rPr lang="en-US" sz="2000" dirty="0" err="1"/>
              <a:t>Dist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4C419-8944-3EE8-A566-18854CE09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98" y="0"/>
            <a:ext cx="4151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0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6DC40-2EDB-4482-8766-57E33A96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2A8024-7774-1E49-A414-9D5A42911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Work: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7A9A8-997F-B1E3-8AFF-E46A839FB555}"/>
              </a:ext>
            </a:extLst>
          </p:cNvPr>
          <p:cNvSpPr txBox="1"/>
          <p:nvPr/>
        </p:nvSpPr>
        <p:spPr>
          <a:xfrm>
            <a:off x="630936" y="2807208"/>
            <a:ext cx="4868164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Switch from max(distances) → quantile(distances)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Use </a:t>
            </a:r>
            <a:r>
              <a:rPr lang="en-US" sz="1500" b="1" dirty="0" err="1"/>
              <a:t>Mahalanobis</a:t>
            </a:r>
            <a:r>
              <a:rPr lang="en-US" sz="1500" b="1" dirty="0"/>
              <a:t> distance</a:t>
            </a:r>
            <a:r>
              <a:rPr lang="en-US" sz="1500" dirty="0"/>
              <a:t> to factor in spread: </a:t>
            </a:r>
            <a:r>
              <a:rPr lang="en-US" sz="1500" b="1" dirty="0" err="1"/>
              <a:t>Mahalanobis</a:t>
            </a:r>
            <a:r>
              <a:rPr lang="en-US" sz="1500" b="1" dirty="0"/>
              <a:t> Distance adjusts for feature correlation and variance. </a:t>
            </a:r>
            <a:r>
              <a:rPr lang="en-US" sz="1500" dirty="0"/>
              <a:t>It gives </a:t>
            </a:r>
            <a:r>
              <a:rPr lang="en-US" sz="1500" b="1" dirty="0"/>
              <a:t>low scores to “normal” spread</a:t>
            </a:r>
            <a:r>
              <a:rPr lang="en-US" sz="1500" dirty="0"/>
              <a:t> and </a:t>
            </a:r>
            <a:r>
              <a:rPr lang="en-US" sz="1500" b="1" dirty="0"/>
              <a:t>high scores to true outliers</a:t>
            </a:r>
            <a:r>
              <a:rPr lang="en-US" sz="1500" dirty="0"/>
              <a:t>, even when they lie close in Euclidean terms.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Consider hybrid rule: Unknown OR (Some Method)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Try </a:t>
            </a:r>
            <a:r>
              <a:rPr lang="en-US" sz="1500" b="1" dirty="0"/>
              <a:t>adaptive tolerance</a:t>
            </a:r>
            <a:r>
              <a:rPr lang="en-US" sz="1500" dirty="0"/>
              <a:t> based on cluster density-Right now it’s a hyperparameter but I think there is a chance we can use a adaptive threshold based on the </a:t>
            </a:r>
            <a:r>
              <a:rPr lang="en-US" sz="1500" dirty="0" err="1"/>
              <a:t>cluter</a:t>
            </a:r>
            <a:r>
              <a:rPr lang="en-US" sz="1500" dirty="0"/>
              <a:t> density for deciding the tolerance.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Right now we are doing a binary search to find a tipping point of tolerance in terms of it acting as a hyperparameter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9C720A-D959-2147-A167-8B44E86CC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602" y="640080"/>
            <a:ext cx="475510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11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663</Words>
  <Application>Microsoft Macintosh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Problem: Why Static and Dynamic Thresholds Fail</vt:lpstr>
      <vt:lpstr>Approach</vt:lpstr>
      <vt:lpstr>PowerPoint Presentation</vt:lpstr>
      <vt:lpstr>Results</vt:lpstr>
      <vt:lpstr>Results</vt:lpstr>
      <vt:lpstr>Centroid Results</vt:lpstr>
      <vt:lpstr>Centroid Results Discussion</vt:lpstr>
      <vt:lpstr>Centroid Results Root Cause: SSL</vt:lpstr>
      <vt:lpstr>Centroid Results Root Cause: SSL</vt:lpstr>
      <vt:lpstr>Centroid Results Root C ause: SSL Max Dist</vt:lpstr>
      <vt:lpstr>Future Work: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Dave, Daksh Rajesh</dc:creator>
  <cp:lastModifiedBy>Dave, Daksh Rajesh</cp:lastModifiedBy>
  <cp:revision>5</cp:revision>
  <dcterms:created xsi:type="dcterms:W3CDTF">2025-04-25T16:49:55Z</dcterms:created>
  <dcterms:modified xsi:type="dcterms:W3CDTF">2025-04-25T18:23:51Z</dcterms:modified>
</cp:coreProperties>
</file>